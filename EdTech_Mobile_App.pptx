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4114800" cy="41148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846320"/>
            <a:ext cx="3291840" cy="329184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9F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ENGINEERING &amp; DISTRIBUTED BACKEND DEVELOPMENT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74520"/>
            <a:ext cx="105156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Education &amp; EdTech Mobile App</a:t>
            </a:r>
            <a:endParaRPr lang="en-US" sz="4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Student Self-Service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822960" y="3977640"/>
            <a:ext cx="2011680" cy="0"/>
          </a:xfrm>
          <a:prstGeom prst="line">
            <a:avLst/>
          </a:prstGeom>
          <a:noFill/>
          <a:ln w="31750">
            <a:solidFill>
              <a:srgbClr val="4FB6D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416052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centralized, secure, and scalable platform unifying academic and self-service facilities for students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562356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9F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
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N. Nishanth (2520030313)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 Srikar (2520030076)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Y25 · 2026–2027 · Trimester 4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256032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29844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1691640"/>
            <a:ext cx="10607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smart, secure, scalable mobile platform that gives students a single, centralized place to manage profiles, view academic information, access courses and resources, submit requests, and receive notifications — replacing scattered manual processes.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3063240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94436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it's built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337560"/>
            <a:ext cx="10607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polyglot backend — FastAPI, Node.js, and Spring Boot — exposes RESTful APIs across independent services. PostgreSQL stores structured, relational data (profiles, courses, academic records, requests), while MongoDB handles flexible, application-related data — together giving the system both structure and flexibility.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4846320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472744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5120640"/>
            <a:ext cx="10607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relational design, normalization, SQL/NoSQL querying, authentication &amp; authorization, REST APIs, and microservices, the system stays modular, maintainable, secure, and scalable — a strong technical foundation for future educational services.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801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academic and self-service needs today are spread across disconnected systems, forcing students into slow, manual, and inconsistent processes with no single reliable source of truth: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1663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6EB"/>
            </a:solidFill>
            <a:prstDash val="solid"/>
          </a:ln>
          <a:effectLst>
            <a:outerShdw sx="100000" sy="100000" kx="0" ky="0" algn="bl" rotWithShape="0" blurRad="76200" dist="25400" dir="5400000">
              <a:srgbClr val="1A1A2E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40487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96112" y="24048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377440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Access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2971800"/>
            <a:ext cx="465429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Profiles, courses, records, and requests live in separate portals or offline processes, with no unified view for students.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09360" y="2148840"/>
            <a:ext cx="51663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6EB"/>
            </a:solidFill>
            <a:prstDash val="solid"/>
          </a:ln>
          <a:effectLst>
            <a:outerShdw sx="100000" sy="100000" kx="0" ky="0" algn="bl" rotWithShape="0" blurRad="76200" dist="25400" dir="5400000">
              <a:srgbClr val="1A1A2E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65392" y="240487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65392" y="24048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178040" y="2377440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Manual, Slow Requests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6565392" y="2971800"/>
            <a:ext cx="465429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and administrative requests are handled on paper or by email, causing delays and lost visibility.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4434840"/>
            <a:ext cx="51663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6EB"/>
            </a:solidFill>
            <a:prstDash val="solid"/>
          </a:ln>
          <a:effectLst>
            <a:outerShdw sx="100000" sy="100000" kx="0" ky="0" algn="bl" rotWithShape="0" blurRad="76200" dist="25400" dir="5400000">
              <a:srgbClr val="1A1A2E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96112" y="469087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96112" y="46908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4663440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Communication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896112" y="5257800"/>
            <a:ext cx="465429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academic notifications don't reach students reliably or in real time.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309360" y="4434840"/>
            <a:ext cx="51663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6EB"/>
            </a:solidFill>
            <a:prstDash val="solid"/>
          </a:ln>
          <a:effectLst>
            <a:outerShdw sx="100000" sy="100000" kx="0" ky="0" algn="bl" rotWithShape="0" blurRad="76200" dist="25400" dir="5400000">
              <a:srgbClr val="1A1A2E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65392" y="469087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65392" y="46908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178040" y="4663440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Rigid, Hard-to-Scale Backends</a:t>
            </a:r>
            <a:endParaRPr lang="en-US" sz="1550" dirty="0"/>
          </a:p>
        </p:txBody>
      </p:sp>
      <p:sp>
        <p:nvSpPr>
          <p:cNvPr id="24" name="Text 22"/>
          <p:cNvSpPr txBox="1"/>
          <p:nvPr/>
        </p:nvSpPr>
        <p:spPr>
          <a:xfrm>
            <a:off x="6565392" y="5257800"/>
            <a:ext cx="465429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Monolithic, single-database systems struggle to flexibly manage both structured records and varied application data as usage grows.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256032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vs Proposed System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880360" y="1371600"/>
            <a:ext cx="4434840" cy="502920"/>
          </a:xfrm>
          <a:prstGeom prst="roundRect">
            <a:avLst>
              <a:gd name="adj" fmla="val 10909"/>
            </a:avLst>
          </a:prstGeom>
          <a:solidFill>
            <a:srgbClr val="C9D6D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880360" y="137160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452360" y="1371600"/>
            <a:ext cx="4434840" cy="502920"/>
          </a:xfrm>
          <a:prstGeom prst="roundRect">
            <a:avLst>
              <a:gd name="adj" fmla="val 10909"/>
            </a:avLst>
          </a:prstGeom>
          <a:solidFill>
            <a:srgbClr val="1C729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52360" y="137160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1984248"/>
            <a:ext cx="11247120" cy="777240"/>
          </a:xfrm>
          <a:prstGeom prst="rect">
            <a:avLst/>
          </a:prstGeom>
          <a:solidFill>
            <a:srgbClr val="EAF1F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01168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3017520" y="2011680"/>
            <a:ext cx="4160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disconnected portals &amp; manual processes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7589520" y="2011680"/>
            <a:ext cx="4160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centralized mobile app for all self-service needs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278892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3017520" y="2788920"/>
            <a:ext cx="4160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Paper-based / email requests, slow and hard to track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7589520" y="2788920"/>
            <a:ext cx="4160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submission with built-in tracking and status updates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3538728"/>
            <a:ext cx="11247120" cy="777240"/>
          </a:xfrm>
          <a:prstGeom prst="rect">
            <a:avLst/>
          </a:prstGeom>
          <a:solidFill>
            <a:srgbClr val="EAF1F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356616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3017520" y="3566160"/>
            <a:ext cx="4160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Inconsistent, delayed communication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7589520" y="3566160"/>
            <a:ext cx="4160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Real-time, in-app notifications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434340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3017520" y="4343400"/>
            <a:ext cx="4160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rigid database, poor fit for varied data types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7589520" y="4343400"/>
            <a:ext cx="4160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Polyglot persistence — PostgreSQL (relational) + MongoDB (NoSQL)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5093208"/>
            <a:ext cx="11247120" cy="777240"/>
          </a:xfrm>
          <a:prstGeom prst="rect">
            <a:avLst/>
          </a:prstGeom>
          <a:solidFill>
            <a:srgbClr val="EAF1F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0080" y="512064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3017520" y="5120640"/>
            <a:ext cx="4160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Tightly coupled, monolithic services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7589520" y="5120640"/>
            <a:ext cx="4160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Polyglot microservices — FastAPI, Node.js, Spring Boot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589788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&amp; Security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3017520" y="5897880"/>
            <a:ext cx="4160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scalability, weak access control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7589520" y="5897880"/>
            <a:ext cx="4160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Modular, maintainable services with authentication &amp; authorization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256032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System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727448" y="1325880"/>
            <a:ext cx="2743200" cy="548640"/>
          </a:xfrm>
          <a:prstGeom prst="roundRect">
            <a:avLst>
              <a:gd name="adj" fmla="val 11667"/>
            </a:avLst>
          </a:prstGeom>
          <a:solidFill>
            <a:srgbClr val="21295C"/>
          </a:solidFill>
          <a:ln/>
          <a:effectLst>
            <a:outerShdw sx="100000" sy="100000" kx="0" ky="0" algn="bl" rotWithShape="0" blurRad="63500" dist="25400" dir="5400000">
              <a:srgbClr val="1A1A2E">
                <a:alpha val="1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4818888" y="13258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Mobile App (Client)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099048" y="1874520"/>
            <a:ext cx="0" cy="274320"/>
          </a:xfrm>
          <a:prstGeom prst="line">
            <a:avLst/>
          </a:prstGeom>
          <a:noFill/>
          <a:ln w="2857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270248" y="2148840"/>
            <a:ext cx="3657600" cy="594360"/>
          </a:xfrm>
          <a:prstGeom prst="roundRect">
            <a:avLst>
              <a:gd name="adj" fmla="val 10769"/>
            </a:avLst>
          </a:prstGeom>
          <a:solidFill>
            <a:srgbClr val="065A82"/>
          </a:solidFill>
          <a:ln/>
          <a:effectLst>
            <a:outerShdw sx="100000" sy="100000" kx="0" ky="0" algn="bl" rotWithShape="0" blurRad="63500" dist="25400" dir="5400000">
              <a:srgbClr val="1A1A2E">
                <a:alpha val="1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361688" y="2221992"/>
            <a:ext cx="3474720" cy="3268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361688" y="2446020"/>
            <a:ext cx="3474720" cy="2674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· Auth &amp; Authorization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099048" y="2743200"/>
            <a:ext cx="0" cy="274320"/>
          </a:xfrm>
          <a:prstGeom prst="line">
            <a:avLst/>
          </a:prstGeom>
          <a:noFill/>
          <a:ln w="2857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075688" y="3017520"/>
            <a:ext cx="2286000" cy="960120"/>
          </a:xfrm>
          <a:prstGeom prst="roundRect">
            <a:avLst>
              <a:gd name="adj" fmla="val 6667"/>
            </a:avLst>
          </a:prstGeom>
          <a:solidFill>
            <a:srgbClr val="1C7293"/>
          </a:solidFill>
          <a:ln/>
          <a:effectLst>
            <a:outerShdw sx="100000" sy="100000" kx="0" ky="0" algn="bl" rotWithShape="0" blurRad="63500" dist="25400" dir="5400000">
              <a:srgbClr val="1A1A2E">
                <a:alpha val="1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2167128" y="3090672"/>
            <a:ext cx="2103120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Service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167128" y="3497580"/>
            <a:ext cx="2103120" cy="4320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records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18688" y="3977640"/>
            <a:ext cx="0" cy="274320"/>
          </a:xfrm>
          <a:prstGeom prst="line">
            <a:avLst/>
          </a:prstGeom>
          <a:noFill/>
          <a:ln w="2857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956048" y="3017520"/>
            <a:ext cx="2286000" cy="960120"/>
          </a:xfrm>
          <a:prstGeom prst="roundRect">
            <a:avLst>
              <a:gd name="adj" fmla="val 6667"/>
            </a:avLst>
          </a:prstGeom>
          <a:solidFill>
            <a:srgbClr val="1C7293"/>
          </a:solidFill>
          <a:ln/>
          <a:effectLst>
            <a:outerShdw sx="100000" sy="100000" kx="0" ky="0" algn="bl" rotWithShape="0" blurRad="63500" dist="25400" dir="5400000">
              <a:srgbClr val="1A1A2E">
                <a:alpha val="1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5047488" y="3090672"/>
            <a:ext cx="2103120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Service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047488" y="3497580"/>
            <a:ext cx="2103120" cy="4320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&amp; requests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099048" y="3977640"/>
            <a:ext cx="0" cy="274320"/>
          </a:xfrm>
          <a:prstGeom prst="line">
            <a:avLst/>
          </a:prstGeom>
          <a:noFill/>
          <a:ln w="2857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836408" y="3017520"/>
            <a:ext cx="2286000" cy="960120"/>
          </a:xfrm>
          <a:prstGeom prst="roundRect">
            <a:avLst>
              <a:gd name="adj" fmla="val 6667"/>
            </a:avLst>
          </a:prstGeom>
          <a:solidFill>
            <a:srgbClr val="1C7293"/>
          </a:solidFill>
          <a:ln/>
          <a:effectLst>
            <a:outerShdw sx="100000" sy="100000" kx="0" ky="0" algn="bl" rotWithShape="0" blurRad="63500" dist="25400" dir="5400000">
              <a:srgbClr val="1A1A2E">
                <a:alpha val="1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7927848" y="3090672"/>
            <a:ext cx="2103120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Service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927848" y="3497580"/>
            <a:ext cx="2103120" cy="4320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Profiles &amp; courses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979408" y="3977640"/>
            <a:ext cx="0" cy="274320"/>
          </a:xfrm>
          <a:prstGeom prst="line">
            <a:avLst/>
          </a:prstGeom>
          <a:noFill/>
          <a:ln w="2857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2167128" y="4800600"/>
            <a:ext cx="3657600" cy="685800"/>
          </a:xfrm>
          <a:prstGeom prst="roundRect">
            <a:avLst>
              <a:gd name="adj" fmla="val 9333"/>
            </a:avLst>
          </a:prstGeom>
          <a:solidFill>
            <a:srgbClr val="3D7EA6"/>
          </a:solidFill>
          <a:ln/>
          <a:effectLst>
            <a:outerShdw sx="100000" sy="100000" kx="0" ky="0" algn="bl" rotWithShape="0" blurRad="63500" dist="25400" dir="5400000">
              <a:srgbClr val="1A1A2E">
                <a:alpha val="15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2258568" y="4873752"/>
            <a:ext cx="3474720" cy="3771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2258568" y="5143500"/>
            <a:ext cx="3474720" cy="3086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— profiles, courses,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records, requests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373368" y="4800600"/>
            <a:ext cx="3657600" cy="685800"/>
          </a:xfrm>
          <a:prstGeom prst="roundRect">
            <a:avLst>
              <a:gd name="adj" fmla="val 9333"/>
            </a:avLst>
          </a:prstGeom>
          <a:solidFill>
            <a:srgbClr val="3D7EA6"/>
          </a:solidFill>
          <a:ln/>
          <a:effectLst>
            <a:outerShdw sx="100000" sy="100000" kx="0" ky="0" algn="bl" rotWithShape="0" blurRad="63500" dist="25400" dir="5400000">
              <a:srgbClr val="1A1A2E">
                <a:alpha val="15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6464808" y="4873752"/>
            <a:ext cx="3474720" cy="3771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464808" y="5143500"/>
            <a:ext cx="3474720" cy="3086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NoSQL — flexible,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application-related data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18688" y="4251960"/>
            <a:ext cx="0" cy="274320"/>
          </a:xfrm>
          <a:prstGeom prst="line">
            <a:avLst/>
          </a:prstGeom>
          <a:noFill/>
          <a:ln w="2857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6099048" y="4251960"/>
            <a:ext cx="0" cy="274320"/>
          </a:xfrm>
          <a:prstGeom prst="line">
            <a:avLst/>
          </a:prstGeom>
          <a:noFill/>
          <a:ln w="2857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8979408" y="4251960"/>
            <a:ext cx="0" cy="274320"/>
          </a:xfrm>
          <a:prstGeom prst="line">
            <a:avLst/>
          </a:prstGeom>
          <a:noFill/>
          <a:ln w="2857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Technologies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F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stack for the self-service platform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1B2A55"/>
          </a:solidFill>
          <a:ln w="12700">
            <a:solidFill>
              <a:srgbClr val="334A7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92024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920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89280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46888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backend framework used to build fast, async RESTful APIs for one of the microservices.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80560" y="169164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1B2A55"/>
          </a:solidFill>
          <a:ln w="12700">
            <a:solidFill>
              <a:srgbClr val="334A7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192024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709160" y="1920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257800" y="189280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709160" y="246888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runtime powering another backend service, well suited for real-time features like notifications.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321040" y="169164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1B2A55"/>
          </a:solidFill>
          <a:ln w="12700">
            <a:solidFill>
              <a:srgbClr val="334A7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49640" y="192024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549640" y="1920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9098280" y="189280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549640" y="246888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Java-based framework used for a robust, enterprise-grade backend service (profiles &amp; courses).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393192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1B2A55"/>
          </a:solidFill>
          <a:ln w="12700">
            <a:solidFill>
              <a:srgbClr val="334A7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" y="416052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68680" y="4160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417320" y="413308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68680" y="470916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database storing structured data — student profiles, courses, academic records, requests.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480560" y="393192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1B2A55"/>
          </a:solidFill>
          <a:ln w="12700">
            <a:solidFill>
              <a:srgbClr val="334A7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09160" y="416052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709160" y="4160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5257800" y="413308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4709160" y="470916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NoSQL document database managing flexible, application-related data alongside the relational store.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2026-08-31T13:05:45Z</dcterms:created>
  <dcterms:modified xsi:type="dcterms:W3CDTF">2026-08-31T13:05:45Z</dcterms:modified>
</cp:coreProperties>
</file>